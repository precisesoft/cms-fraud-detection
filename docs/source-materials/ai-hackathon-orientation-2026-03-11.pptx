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B78B0F-3A40-4343-87F0-BF9448BEA355}">
  <a:tblStyle styleId="{ECB78B0F-3A40-4343-87F0-BF9448BEA3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f8e519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f8e519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f25498f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f25498f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7f8e519a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7f8e519a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7f8e519a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7f8e519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f25498f7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f25498f7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25498f7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25498f7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f8e519a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f8e519a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f25498f7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f25498f7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7f8e519a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7f8e519a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jpg"/><Relationship Id="rId10" Type="http://schemas.openxmlformats.org/officeDocument/2006/relationships/image" Target="../media/image10.png"/><Relationship Id="rId13" Type="http://schemas.openxmlformats.org/officeDocument/2006/relationships/image" Target="../media/image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5" Type="http://schemas.openxmlformats.org/officeDocument/2006/relationships/image" Target="../media/image12.jpg"/><Relationship Id="rId14" Type="http://schemas.openxmlformats.org/officeDocument/2006/relationships/image" Target="../media/image3.png"/><Relationship Id="rId16" Type="http://schemas.openxmlformats.org/officeDocument/2006/relationships/image" Target="../media/image2.png"/><Relationship Id="rId5" Type="http://schemas.openxmlformats.org/officeDocument/2006/relationships/image" Target="../media/image15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hyperlink" Target="mailto:be@theoryai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tangle&#10;&#10;Description automatically generated with low confidence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246600" y="1902400"/>
            <a:ext cx="118113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lt1"/>
                </a:solidFill>
              </a:rPr>
              <a:t>Welcome to the AI-Hackathon! </a:t>
            </a:r>
            <a:endParaRPr b="1" sz="5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</a:rPr>
              <a:t>Orientation  </a:t>
            </a:r>
            <a:endParaRPr sz="45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AI Working Group </a:t>
            </a:r>
            <a:endParaRPr sz="3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March 11, 2026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Welcome!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6" name="Google Shape;96;p15" title="Screenshot 2026-03-11 at 3.12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38879"/>
            <a:ext cx="12191999" cy="6613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Welcome!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15600" y="1838975"/>
            <a:ext cx="11416200" cy="4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Today’s agenda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Who’s in the room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Working Group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Rules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Office Hours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to know your team!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50" y="-56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type="title"/>
          </p:nvPr>
        </p:nvSpPr>
        <p:spPr>
          <a:xfrm>
            <a:off x="415650" y="471942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Who is in the room?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69300" y="1821650"/>
            <a:ext cx="11360700" cy="48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Attendance: 150-200 industry and government professionals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 + hackathon participants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3-5 Government Judges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Teams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4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type="title"/>
          </p:nvPr>
        </p:nvSpPr>
        <p:spPr>
          <a:xfrm>
            <a:off x="533025" y="617252"/>
            <a:ext cx="11360700" cy="96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Our Leadership Team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33">
                <a:solidFill>
                  <a:schemeClr val="lt1"/>
                </a:solidFill>
              </a:rPr>
              <a:t>AI Working Group Chairs</a:t>
            </a:r>
            <a:endParaRPr b="1" i="1" sz="2733">
              <a:solidFill>
                <a:schemeClr val="lt1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04" y="1955950"/>
            <a:ext cx="1490893" cy="149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7925" y="2006016"/>
            <a:ext cx="1192493" cy="1490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355625" y="3496950"/>
            <a:ext cx="1881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Paul Tibbits, M.D.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VA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Government Chair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348400" y="3496950"/>
            <a:ext cx="15855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Gabrielle Bedewi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Government Chair </a:t>
            </a:r>
            <a:endParaRPr b="1" i="1" sz="1000">
              <a:solidFill>
                <a:srgbClr val="222222"/>
              </a:solidFill>
              <a:highlight>
                <a:schemeClr val="lt1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Defense Threat Reduction Agency (DTRA) 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chemeClr val="lt1"/>
              </a:highlight>
            </a:endParaRPr>
          </a:p>
        </p:txBody>
      </p:sp>
      <p:pic>
        <p:nvPicPr>
          <p:cNvPr id="121" name="Google Shape;121;p18" title="Omar_Bouaichi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1950" y="2006025"/>
            <a:ext cx="1372750" cy="137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4281850" y="3446875"/>
            <a:ext cx="17376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22222"/>
                </a:solidFill>
                <a:highlight>
                  <a:srgbClr val="FFFFFF"/>
                </a:highlight>
              </a:rPr>
              <a:t>Omar E. Bouaichi </a:t>
            </a:r>
            <a:endParaRPr b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Government Chair</a:t>
            </a:r>
            <a:r>
              <a:rPr b="1" i="1" lang="en-US" sz="11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b="1" i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</a:rPr>
              <a:t>HUD | Ginnie Mae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Office of Enterprise Data &amp; Technology Solutions</a:t>
            </a:r>
            <a:endParaRPr i="1"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123" name="Google Shape;123;p18" title="Gopa_Nair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1500" y="2015038"/>
            <a:ext cx="1372750" cy="137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6019450" y="3454525"/>
            <a:ext cx="193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22222"/>
                </a:solidFill>
                <a:highlight>
                  <a:srgbClr val="FFFFFF"/>
                </a:highlight>
              </a:rPr>
              <a:t>Gopa Nair</a:t>
            </a:r>
            <a:endParaRPr b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Government Chair </a:t>
            </a:r>
            <a:endParaRPr b="1" i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</a:rPr>
              <a:t>Department of Labor (DOL)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222222"/>
                </a:solidFill>
                <a:highlight>
                  <a:srgbClr val="FFFFFF"/>
                </a:highlight>
              </a:rPr>
              <a:t>OASAM/OCIO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7997225" y="3468212"/>
            <a:ext cx="193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22222"/>
                </a:solidFill>
                <a:highlight>
                  <a:srgbClr val="FFFFFF"/>
                </a:highlight>
              </a:rPr>
              <a:t>Ravi Gourineni</a:t>
            </a:r>
            <a:endParaRPr b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Industry</a:t>
            </a: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 Chair </a:t>
            </a:r>
            <a:endParaRPr b="1" i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</a:rPr>
              <a:t>Lithe Solutions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22222"/>
                </a:solidFill>
                <a:highlight>
                  <a:srgbClr val="FFFFFF"/>
                </a:highlight>
              </a:rPr>
              <a:t>Co-Founder/CSO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126" name="Google Shape;126;p18" title="Ravi_profile_pic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11050" y="1899650"/>
            <a:ext cx="1585500" cy="15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Theory AI logo.png"/>
          <p:cNvPicPr preferRelativeResize="0"/>
          <p:nvPr/>
        </p:nvPicPr>
        <p:blipFill rotWithShape="1">
          <a:blip r:embed="rId9">
            <a:alphaModFix/>
          </a:blip>
          <a:srcRect b="20072" l="0" r="0" t="17882"/>
          <a:stretch/>
        </p:blipFill>
        <p:spPr>
          <a:xfrm>
            <a:off x="9975000" y="4507900"/>
            <a:ext cx="1930800" cy="119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Lithe Logo N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22183" y="4730705"/>
            <a:ext cx="1737600" cy="80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9975000" y="3454537"/>
            <a:ext cx="1930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22222"/>
                </a:solidFill>
                <a:highlight>
                  <a:srgbClr val="FFFFFF"/>
                </a:highlight>
              </a:rPr>
              <a:t>Bethlehem Belaineh</a:t>
            </a:r>
            <a:endParaRPr b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222222"/>
                </a:solidFill>
                <a:highlight>
                  <a:schemeClr val="lt1"/>
                </a:highlight>
                <a:latin typeface="Comic Sans MS"/>
                <a:ea typeface="Comic Sans MS"/>
                <a:cs typeface="Comic Sans MS"/>
                <a:sym typeface="Comic Sans MS"/>
              </a:rPr>
              <a:t>Industry Vice Chair </a:t>
            </a:r>
            <a:endParaRPr b="1" i="1"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</a:rPr>
              <a:t>Theory AI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22222"/>
                </a:solidFill>
                <a:highlight>
                  <a:srgbClr val="FFFFFF"/>
                </a:highlight>
              </a:rPr>
              <a:t>Founder &amp; CEO</a:t>
            </a:r>
            <a:endParaRPr i="1"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130" name="Google Shape;130;p18" title="Belaineh_Headshot.jpg"/>
          <p:cNvPicPr preferRelativeResize="0"/>
          <p:nvPr/>
        </p:nvPicPr>
        <p:blipFill rotWithShape="1">
          <a:blip r:embed="rId11">
            <a:alphaModFix/>
          </a:blip>
          <a:srcRect b="0" l="20732" r="10231" t="0"/>
          <a:stretch/>
        </p:blipFill>
        <p:spPr>
          <a:xfrm>
            <a:off x="10040675" y="1873648"/>
            <a:ext cx="1585500" cy="164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DOL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93363" y="4620450"/>
            <a:ext cx="1254875" cy="12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GinnieMae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55933" y="4515466"/>
            <a:ext cx="2185875" cy="5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client-08.png"/>
          <p:cNvPicPr preferRelativeResize="0"/>
          <p:nvPr/>
        </p:nvPicPr>
        <p:blipFill rotWithShape="1">
          <a:blip r:embed="rId14">
            <a:alphaModFix/>
          </a:blip>
          <a:srcRect b="9317" l="28924" r="28924" t="9309"/>
          <a:stretch/>
        </p:blipFill>
        <p:spPr>
          <a:xfrm>
            <a:off x="2420725" y="4667431"/>
            <a:ext cx="1440849" cy="144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title="200724-F-PO640-0003.jpe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777" y="4361450"/>
            <a:ext cx="2210598" cy="149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title="HUD_logo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78596" y="5110599"/>
            <a:ext cx="1440850" cy="14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Hackathon Rules </a:t>
            </a:r>
            <a:r>
              <a:rPr lang="en-US">
                <a:solidFill>
                  <a:schemeClr val="lt1"/>
                </a:solidFill>
              </a:rPr>
              <a:t>(part 1)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415600" y="1838975"/>
            <a:ext cx="11466600" cy="4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Eligibility &amp; Team Formation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Team size limits (e.g., 2–5 members per team)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Participants must register by the deadline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Each person can only be on one team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Teams must have at least one designated team lead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Intellectual Property &amp; Originality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All work must be original and built during the Hackathon period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pre-built projects or significant prior work submitted as new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Teams retain ownership of their work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Any open-source tools/libraries must be disclosed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Code of Conduct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Respectful communication among all participants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plagiarism or cheating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harassment or discrimination of any kind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Violations result in disqualificatio</a:t>
            </a:r>
            <a:r>
              <a:rPr lang="en-US">
                <a:solidFill>
                  <a:schemeClr val="dk1"/>
                </a:solidFill>
              </a:rPr>
              <a:t>n</a:t>
            </a:r>
            <a:endParaRPr b="1" i="1"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Hackathon Rules </a:t>
            </a:r>
            <a:r>
              <a:rPr lang="en-US">
                <a:solidFill>
                  <a:schemeClr val="lt1"/>
                </a:solidFill>
              </a:rPr>
              <a:t>(part 2)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15600" y="1667000"/>
            <a:ext cx="11466600" cy="5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Submission Requirements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Projects must be submitted by the deadline (no exceptions)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Must include a demo, README, or presentation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Code must be pushed to a shared repository (e.g., GitHub)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Teams must present/demo their project to judges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Judging Criteria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Innovation &amp; creativity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Technical complexity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Practicality / real-world impact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Quality of presentation/demo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Use of AI Tools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Disclose any AI tools used (e.g., GitHub Copilot, ChatGPT)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AI-generated code must be reviewed and understood by the team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General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Judges' decisions are final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Organizers reserve the right to disqualify teams for rule violations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Participants must be available during judging windows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54" name="Google Shape;1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702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Hackathon Key Dates and TimeLines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207575" y="182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{ECB78B0F-3A40-4343-87F0-BF9448BEA355}</a:tableStyleId>
              </a:tblPr>
              <a:tblGrid>
                <a:gridCol w="2287250"/>
                <a:gridCol w="2411350"/>
                <a:gridCol w="4875825"/>
                <a:gridCol w="2163100"/>
              </a:tblGrid>
              <a:tr h="45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100"/>
                        <a:t>Time Frame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100"/>
                        <a:t>Phase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100"/>
                        <a:t>Description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1100"/>
                        <a:t>Milestone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Feb 2,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Hackathon Announcement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Public announcement; registration opens; structure and rules published (use cases excluded)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Registration opens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</a:tr>
              <a:tr h="64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Feb 2 – Feb 20,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 Case Development &amp; Intake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 cases developed by Steering Committee; industry use cases solicited and reviewed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 cases finalized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Feb 20,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 Case Publication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Four (4) approved use cases published publicly with leads and sponsors identified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 cases released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Feb 2 – Mar 6,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Registration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Participants register and indicate use case and environment preferences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Registration closes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Mar 6 – Mar 11,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Team Formation, Use Case &amp; Environment Lock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Teams finalized based on registration option and interest, Use Case finalized and environment access checked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Teams confirmed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Mar 12 – Mar 25,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Solutioning Sprint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14-day sprint to design and build MVP solutions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Working MVPs complete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Mar 25, 2026 (EOD, 5 PM)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Submission Lock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Final solutions and artifacts submitted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Submissions closed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Mar 27, 2026</a:t>
                      </a:r>
                      <a:endParaRPr b="1"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Demo Day &amp; Judging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Live demos, panels, judging, and awards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Winners announced</a:t>
                      </a:r>
                      <a:endParaRPr sz="1100"/>
                    </a:p>
                  </a:txBody>
                  <a:tcPr marT="45725" marB="45725" marR="45725" marL="457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CC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1"/>
          <p:cNvSpPr/>
          <p:nvPr/>
        </p:nvSpPr>
        <p:spPr>
          <a:xfrm rot="7216516">
            <a:off x="1348671" y="4130289"/>
            <a:ext cx="1117514" cy="288653"/>
          </a:xfrm>
          <a:prstGeom prst="rightArrow">
            <a:avLst>
              <a:gd fmla="val 10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>
            <p:ph type="title"/>
          </p:nvPr>
        </p:nvSpPr>
        <p:spPr>
          <a:xfrm>
            <a:off x="415650" y="471952"/>
            <a:ext cx="11360700" cy="93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What’s Next 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77">
                <a:solidFill>
                  <a:schemeClr val="lt1"/>
                </a:solidFill>
              </a:rPr>
              <a:t>Office Hours: Hosted Daily March 13-25</a:t>
            </a:r>
            <a:endParaRPr b="1" i="1" sz="3177">
              <a:solidFill>
                <a:schemeClr val="lt1"/>
              </a:solidFill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568800" y="1758850"/>
            <a:ext cx="10853400" cy="4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Your Teams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your Use-Cases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your preferred environment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 Office Hours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a Project Plan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your Hackathon Project by 02/25/2026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>
            <p:ph type="title"/>
          </p:nvPr>
        </p:nvSpPr>
        <p:spPr>
          <a:xfrm>
            <a:off x="415600" y="35891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Thank you! Q &amp; A Time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738200" y="2071700"/>
            <a:ext cx="11106300" cy="4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  Concerns?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Bethlehem (Be): </a:t>
            </a: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be@theoryai.co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Ravi: </a:t>
            </a: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rgourineni@lithesolutions.com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